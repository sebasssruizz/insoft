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411480"/>
            <a:ext cx="1645920" cy="1645920"/>
          </a:xfrm>
          <a:prstGeom prst="ellipse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188720" cy="118872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530352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A7EBB"/>
                </a:solidFill>
                <a:latin typeface="Aptos"/>
              </a:rPr>
              <a:t>PROPUESTA DE DESARROLLO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6583680" cy="114300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3900" b="1">
                <a:solidFill>
                  <a:srgbClr val="203047"/>
                </a:solidFill>
                <a:latin typeface="Aptos"/>
              </a:rPr>
              <a:t>Plataforma web
e educativa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5669280" cy="45720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C6978"/>
                </a:solidFill>
                <a:latin typeface="Aptos"/>
              </a:rPr>
              <a:t>Recursos educativos  •  Venta digital  •  Crecimiento por etapas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960120"/>
            <a:ext cx="3886200" cy="4526280"/>
          </a:xfrm>
          <a:prstGeom prst="roundRect">
            <a:avLst/>
          </a:prstGeom>
          <a:solidFill>
            <a:srgbClr val="FFFCF4"/>
          </a:solidFill>
          <a:ln>
            <a:solidFill>
              <a:srgbClr val="DC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35240" y="1234440"/>
            <a:ext cx="3337560" cy="384048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307592"/>
            <a:ext cx="2286000" cy="164592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RECURSOS EDUCATIVOS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828800"/>
            <a:ext cx="3337560" cy="1325880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82127" y="2075688"/>
            <a:ext cx="2651760" cy="68580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800" b="1">
                <a:solidFill>
                  <a:srgbClr val="203047"/>
                </a:solidFill>
                <a:latin typeface="Aptos"/>
              </a:rPr>
              <a:t>Aprender puede
ser más sencillo.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7" y="3401568"/>
            <a:ext cx="1097280" cy="347472"/>
          </a:xfrm>
          <a:prstGeom prst="roundRect">
            <a:avLst/>
          </a:prstGeom>
          <a:solidFill>
            <a:srgbClr val="F7D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7" y="3456432"/>
            <a:ext cx="1097280" cy="146304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03047"/>
                </a:solidFill>
                <a:latin typeface="Aptos"/>
              </a:rPr>
              <a:t>Explorar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01568"/>
            <a:ext cx="1234440" cy="347472"/>
          </a:xfrm>
          <a:prstGeom prst="roundRect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0" y="3456432"/>
            <a:ext cx="1234440" cy="146304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03047"/>
                </a:solidFill>
                <a:latin typeface="Aptos"/>
              </a:rPr>
              <a:t>Comprar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4069080"/>
            <a:ext cx="1828800" cy="246888"/>
          </a:xfrm>
          <a:prstGeom prst="roundRect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635240" y="4453128"/>
            <a:ext cx="1417320" cy="246888"/>
          </a:xfrm>
          <a:prstGeom prst="roundRect">
            <a:avLst/>
          </a:prstGeom>
          <a:solidFill>
            <a:srgbClr val="F7D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35240" y="4837176"/>
            <a:ext cx="2240280" cy="246888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897880"/>
            <a:ext cx="594360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5C6978"/>
                </a:solidFill>
                <a:latin typeface="Aptos"/>
              </a:rPr>
              <a:t>Propuesta inicial  · 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411480"/>
            <a:ext cx="1645920" cy="1645920"/>
          </a:xfrm>
          <a:prstGeom prst="ellipse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188720" cy="118872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84048"/>
            <a:ext cx="502920" cy="329184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02336"/>
            <a:ext cx="502920" cy="1828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03047"/>
                </a:solidFill>
                <a:latin typeface="Aptos"/>
              </a:rPr>
              <a:t>Primera etapa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841248"/>
            <a:ext cx="996696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Lo esencial para convertir la idea en una plataforma funcional.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1764792"/>
            <a:ext cx="384048" cy="384048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9032" y="1737360"/>
            <a:ext cx="233172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3047"/>
                </a:solidFill>
                <a:latin typeface="Aptos"/>
              </a:rPr>
              <a:t>Landing responsive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67712"/>
            <a:ext cx="2834640" cy="566928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Presentación, promociones, redes y contacto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5087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1764792"/>
            <a:ext cx="384048" cy="384048"/>
          </a:xfrm>
          <a:prstGeom prst="ellipse">
            <a:avLst/>
          </a:prstGeom>
          <a:solidFill>
            <a:srgbClr val="F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93792" y="1737360"/>
            <a:ext cx="233172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3047"/>
                </a:solidFill>
                <a:latin typeface="Aptos"/>
              </a:rPr>
              <a:t>Catálogo / e-commerce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267712"/>
            <a:ext cx="2834640" cy="566928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Recursos, categorías, filtros y ordenamiento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5087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1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03920" y="1764792"/>
            <a:ext cx="384048" cy="384048"/>
          </a:xfrm>
          <a:prstGeom prst="ellipse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88552" y="1737360"/>
            <a:ext cx="233172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3047"/>
                </a:solidFill>
                <a:latin typeface="Aptos"/>
              </a:rPr>
              <a:t>Pagos y acceso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267712"/>
            <a:ext cx="2834640" cy="566928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Compra digital + acceso a recursos adquiridos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7D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3776472"/>
            <a:ext cx="384048" cy="384048"/>
          </a:xfrm>
          <a:prstGeom prst="ellipse">
            <a:avLst/>
          </a:prstGeom>
          <a:solidFill>
            <a:srgbClr val="F7D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9032" y="3749039"/>
            <a:ext cx="233172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3047"/>
                </a:solidFill>
                <a:latin typeface="Aptos"/>
              </a:rPr>
              <a:t>Administración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79392"/>
            <a:ext cx="2834640" cy="566928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Cartillas, categorías, usuarios y ventas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3520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09160" y="3776472"/>
            <a:ext cx="384048" cy="384048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93792" y="3749039"/>
            <a:ext cx="233172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3047"/>
                </a:solidFill>
                <a:latin typeface="Aptos"/>
              </a:rPr>
              <a:t>Estadísticas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279392"/>
            <a:ext cx="2834640" cy="566928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Ventas, recursos más vendidos, usuarios e interacciones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520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F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03920" y="3776472"/>
            <a:ext cx="384048" cy="384048"/>
          </a:xfrm>
          <a:prstGeom prst="ellipse">
            <a:avLst/>
          </a:prstGeom>
          <a:solidFill>
            <a:srgbClr val="F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8552" y="3749039"/>
            <a:ext cx="233172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600" b="1">
                <a:solidFill>
                  <a:srgbClr val="203047"/>
                </a:solidFill>
                <a:latin typeface="Aptos"/>
              </a:rPr>
              <a:t>Recursos gratuitos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279392"/>
            <a:ext cx="2834640" cy="566928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Descarga y medición de acciones dentro del sitio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411480"/>
            <a:ext cx="1645920" cy="1645920"/>
          </a:xfrm>
          <a:prstGeom prst="ellipse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188720" cy="118872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84048"/>
            <a:ext cx="502920" cy="329184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02336"/>
            <a:ext cx="502920" cy="1828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03047"/>
                </a:solidFill>
                <a:latin typeface="Aptos"/>
              </a:rPr>
              <a:t>Wireframes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841248"/>
            <a:ext cx="996696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Referencias visuales para validar la experiencia antes de desarrollar.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C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1664208"/>
            <a:ext cx="2880360" cy="347472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194560"/>
            <a:ext cx="2880360" cy="594360"/>
          </a:xfrm>
          <a:prstGeom prst="round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350008"/>
            <a:ext cx="1143000" cy="210312"/>
          </a:xfrm>
          <a:prstGeom prst="roundRect">
            <a:avLst/>
          </a:prstGeom>
          <a:solidFill>
            <a:srgbClr val="20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43000" y="3063240"/>
            <a:ext cx="1280160" cy="685800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06039" y="3063240"/>
            <a:ext cx="1051560" cy="685800"/>
          </a:xfrm>
          <a:prstGeom prst="roundRect">
            <a:avLst/>
          </a:prstGeom>
          <a:solidFill>
            <a:srgbClr val="F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43000" y="3977639"/>
            <a:ext cx="2514600" cy="274320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4434840"/>
            <a:ext cx="1920240" cy="201168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074920"/>
            <a:ext cx="265176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03047"/>
                </a:solidFill>
                <a:latin typeface="Aptos"/>
              </a:rPr>
              <a:t>01  ·  Landing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1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1664208"/>
            <a:ext cx="2880360" cy="347472"/>
          </a:xfrm>
          <a:prstGeom prst="roundRect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4880" y="2194560"/>
            <a:ext cx="2880360" cy="594360"/>
          </a:xfrm>
          <a:prstGeom prst="round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37760" y="2350008"/>
            <a:ext cx="1143000" cy="210312"/>
          </a:xfrm>
          <a:prstGeom prst="roundRect">
            <a:avLst/>
          </a:prstGeom>
          <a:solidFill>
            <a:srgbClr val="20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937760" y="3063240"/>
            <a:ext cx="1280160" cy="685800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0" y="3063240"/>
            <a:ext cx="1051560" cy="685800"/>
          </a:xfrm>
          <a:prstGeom prst="roundRect">
            <a:avLst/>
          </a:prstGeom>
          <a:solidFill>
            <a:srgbClr val="F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937760" y="3977639"/>
            <a:ext cx="2514600" cy="274320"/>
          </a:xfrm>
          <a:prstGeom prst="roundRect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937760" y="4434840"/>
            <a:ext cx="1920240" cy="201168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5074920"/>
            <a:ext cx="265176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03047"/>
                </a:solidFill>
                <a:latin typeface="Aptos"/>
              </a:rPr>
              <a:t>02  ·  Catálogo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417320"/>
            <a:ext cx="333756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F7D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49640" y="1664208"/>
            <a:ext cx="2880360" cy="347472"/>
          </a:xfrm>
          <a:prstGeom prst="roundRect">
            <a:avLst/>
          </a:prstGeom>
          <a:solidFill>
            <a:srgbClr val="F7D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49640" y="2194560"/>
            <a:ext cx="2880360" cy="594360"/>
          </a:xfrm>
          <a:prstGeom prst="roundRect">
            <a:avLst/>
          </a:prstGeom>
          <a:solidFill>
            <a:srgbClr val="FFF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32520" y="2350008"/>
            <a:ext cx="1143000" cy="210312"/>
          </a:xfrm>
          <a:prstGeom prst="roundRect">
            <a:avLst/>
          </a:prstGeom>
          <a:solidFill>
            <a:srgbClr val="20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32520" y="3063240"/>
            <a:ext cx="1280160" cy="685800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95560" y="3063240"/>
            <a:ext cx="1051560" cy="685800"/>
          </a:xfrm>
          <a:prstGeom prst="roundRect">
            <a:avLst/>
          </a:prstGeom>
          <a:solidFill>
            <a:srgbClr val="FCE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32520" y="3977639"/>
            <a:ext cx="2514600" cy="274320"/>
          </a:xfrm>
          <a:prstGeom prst="roundRect">
            <a:avLst/>
          </a:prstGeom>
          <a:solidFill>
            <a:srgbClr val="F7D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32520" y="4434840"/>
            <a:ext cx="1920240" cy="201168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5074920"/>
            <a:ext cx="265176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203047"/>
                </a:solidFill>
                <a:latin typeface="Aptos"/>
              </a:rPr>
              <a:t>03  ·  Panel superusuario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411480"/>
            <a:ext cx="1645920" cy="1645920"/>
          </a:xfrm>
          <a:prstGeom prst="ellipse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188720" cy="118872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84048"/>
            <a:ext cx="502920" cy="329184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02336"/>
            <a:ext cx="502920" cy="1828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03047"/>
                </a:solidFill>
                <a:latin typeface="Aptos"/>
              </a:rPr>
              <a:t>Pensada para crecer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841248"/>
            <a:ext cx="996696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La primera versión crea una base que puede ampliarse con nuevos módulos.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5074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10512"/>
            <a:ext cx="438912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A7EBB"/>
                </a:solidFill>
                <a:latin typeface="Aptos"/>
              </a:rPr>
              <a:t>AHORA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67712"/>
            <a:ext cx="4251960" cy="274320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03047"/>
                </a:solidFill>
                <a:latin typeface="Aptos"/>
              </a:rPr>
              <a:t>• Venta de cartillas y recursos
• Catálogo y compras
• Usuarios y biblioteca digital
• Administración
• Estadísticas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508760"/>
            <a:ext cx="493776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F1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810512"/>
            <a:ext cx="438912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BE5B77"/>
                </a:solidFill>
                <a:latin typeface="Aptos"/>
              </a:rPr>
              <a:t>DESPUÉS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67712"/>
            <a:ext cx="4160520" cy="28346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600" b="0">
                <a:solidFill>
                  <a:srgbClr val="203047"/>
                </a:solidFill>
                <a:latin typeface="Aptos"/>
              </a:rPr>
              <a:t>• Juegos educativos interactivos
• Recomendador de recursos
• Membresías o planes
• Nuevas herramientas para padres
• Nuevos tipos de contenido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411480"/>
            <a:ext cx="1645920" cy="1645920"/>
          </a:xfrm>
          <a:prstGeom prst="ellipse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188720" cy="118872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84048"/>
            <a:ext cx="502920" cy="329184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02336"/>
            <a:ext cx="502920" cy="1828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03047"/>
                </a:solidFill>
                <a:latin typeface="Aptos"/>
              </a:rPr>
              <a:t>Inversión y cronograma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841248"/>
            <a:ext cx="996696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Desarrollo inicial + pruebas y ajustes antes del lanzamiento.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70332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1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301752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4A7EBB"/>
                </a:solidFill>
                <a:latin typeface="Aptos"/>
              </a:rPr>
              <a:t>INVERSIÓN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3108960" cy="68580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203047"/>
                </a:solidFill>
                <a:latin typeface="Aptos"/>
              </a:rPr>
              <a:t>$2.700.000
COP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2971800" cy="10972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50" b="0">
                <a:solidFill>
                  <a:srgbClr val="5C6978"/>
                </a:solidFill>
                <a:latin typeface="Aptos"/>
              </a:rPr>
              <a:t>Primera etapa completa.
Dominio, hosting y servicios externos: por cuenta del cliente.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417320"/>
            <a:ext cx="2971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737360"/>
            <a:ext cx="237744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4A7EBB"/>
                </a:solidFill>
                <a:latin typeface="Aptos"/>
              </a:rPr>
              <a:t>MES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2148840"/>
            <a:ext cx="2331720" cy="10972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300" b="1">
                <a:solidFill>
                  <a:srgbClr val="203047"/>
                </a:solidFill>
                <a:latin typeface="Aptos"/>
              </a:rPr>
              <a:t>Desarrollo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3291840"/>
            <a:ext cx="2240280" cy="10058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Estructura
Funcionalidades
Base lista para pruebas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F7D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737360"/>
            <a:ext cx="274320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03047"/>
                </a:solidFill>
                <a:latin typeface="Aptos"/>
              </a:rPr>
              <a:t>HASTA 1 MES ADICIONAL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48840"/>
            <a:ext cx="2743200" cy="10972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300" b="1">
                <a:solidFill>
                  <a:srgbClr val="203047"/>
                </a:solidFill>
                <a:latin typeface="Aptos"/>
              </a:rPr>
              <a:t>Pruebas y ajustes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291840"/>
            <a:ext cx="2697480" cy="10972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Pruebas reales
Correcciones
Validación antes de publicar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411480"/>
            <a:ext cx="1645920" cy="1645920"/>
          </a:xfrm>
          <a:prstGeom prst="ellipse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188720" cy="118872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84048"/>
            <a:ext cx="502920" cy="329184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02336"/>
            <a:ext cx="502920" cy="1828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03047"/>
                </a:solidFill>
                <a:latin typeface="Aptos"/>
              </a:rPr>
              <a:t>Facilidades de pago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841248"/>
            <a:ext cx="996696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Tres opciones para distribuir el valor del proyecto.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00200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1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78992" y="1856231"/>
            <a:ext cx="914400" cy="347472"/>
          </a:xfrm>
          <a:prstGeom prst="roundRect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01952"/>
            <a:ext cx="914400" cy="164592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03047"/>
                </a:solidFill>
                <a:latin typeface="Aptos"/>
              </a:rPr>
              <a:t>4 cuotas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2560320" cy="5029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03047"/>
                </a:solidFill>
                <a:latin typeface="Aptos"/>
              </a:rPr>
              <a:t>$675.000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251460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por 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2560320" cy="4114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03047"/>
                </a:solidFill>
                <a:latin typeface="Aptos"/>
              </a:rPr>
              <a:t>Total $2.700.000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600200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82312" y="1856231"/>
            <a:ext cx="914400" cy="347472"/>
          </a:xfrm>
          <a:prstGeom prst="roundRect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82312" y="1901952"/>
            <a:ext cx="914400" cy="164592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03047"/>
                </a:solidFill>
                <a:latin typeface="Aptos"/>
              </a:rPr>
              <a:t>6 cuotas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468880"/>
            <a:ext cx="2560320" cy="5029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03047"/>
                </a:solidFill>
                <a:latin typeface="Aptos"/>
              </a:rPr>
              <a:t>$450.000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127248"/>
            <a:ext cx="251460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por 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840480"/>
            <a:ext cx="2560320" cy="4114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03047"/>
                </a:solidFill>
                <a:latin typeface="Aptos"/>
              </a:rPr>
              <a:t>Total $2.700.000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600200"/>
            <a:ext cx="31546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F7D7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85632" y="1856231"/>
            <a:ext cx="914400" cy="347472"/>
          </a:xfrm>
          <a:prstGeom prst="roundRect">
            <a:avLst/>
          </a:prstGeom>
          <a:solidFill>
            <a:srgbClr val="F7D7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85632" y="1901952"/>
            <a:ext cx="914400" cy="164592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900" b="1">
                <a:solidFill>
                  <a:srgbClr val="203047"/>
                </a:solidFill>
                <a:latin typeface="Aptos"/>
              </a:rPr>
              <a:t>8 cuotas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468880"/>
            <a:ext cx="2560320" cy="5029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03047"/>
                </a:solidFill>
                <a:latin typeface="Aptos"/>
              </a:rPr>
              <a:t>$360.000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127248"/>
            <a:ext cx="251460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5C6978"/>
                </a:solidFill>
                <a:latin typeface="Aptos"/>
              </a:rPr>
              <a:t>por 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840480"/>
            <a:ext cx="2560320" cy="4114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203047"/>
                </a:solidFill>
                <a:latin typeface="Aptos"/>
              </a:rPr>
              <a:t>Total $2.880.000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5C6978"/>
                </a:solidFill>
                <a:latin typeface="Aptos"/>
              </a:rPr>
              <a:t>Las cuotas son una facilidad de pago acordada para el proyecto.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72800" y="-411480"/>
            <a:ext cx="1645920" cy="1645920"/>
          </a:xfrm>
          <a:prstGeom prst="ellipse">
            <a:avLst/>
          </a:prstGeom>
          <a:solidFill>
            <a:srgbClr val="F1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5989320"/>
            <a:ext cx="1188720" cy="1188720"/>
          </a:xfrm>
          <a:prstGeom prst="ellipse">
            <a:avLst/>
          </a:prstGeom>
          <a:solidFill>
            <a:srgbClr val="DCE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384048"/>
            <a:ext cx="502920" cy="329184"/>
          </a:xfrm>
          <a:prstGeom prst="roundRect">
            <a:avLst/>
          </a:prstGeom>
          <a:solidFill>
            <a:srgbClr val="4A7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402336"/>
            <a:ext cx="502920" cy="18288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47472"/>
            <a:ext cx="10058400" cy="5029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203047"/>
                </a:solidFill>
                <a:latin typeface="Aptos"/>
              </a:rPr>
              <a:t>Soporte y mantenimiento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841248"/>
            <a:ext cx="9966960" cy="274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5C6978"/>
                </a:solidFill>
                <a:latin typeface="Aptos"/>
              </a:rPr>
              <a:t>Acompañamiento posterior para mantener la plataforma funcionando.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52120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F1BE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48056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2200" b="1">
                <a:solidFill>
                  <a:srgbClr val="203047"/>
                </a:solidFill>
                <a:latin typeface="Aptos"/>
              </a:rPr>
              <a:t>$120.000 COP / 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23160"/>
            <a:ext cx="4389120" cy="23774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03047"/>
                </a:solidFill>
                <a:latin typeface="Aptos"/>
              </a:rPr>
              <a:t>✓ Corrección de errores
✓ Mantenimiento básico
✓ Ajustes pequeños de contenido o visuales
✓ Soporte y acompañamiento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48920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83080"/>
            <a:ext cx="4206240" cy="32004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4A7EBB"/>
                </a:solidFill>
                <a:latin typeface="Aptos"/>
              </a:rPr>
              <a:t>A TENER EN CUENTA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23160"/>
            <a:ext cx="4160520" cy="2560320"/>
          </a:xfrm>
          <a:prstGeom prst="rect">
            <a:avLst/>
          </a:prstGeom>
          <a:noFill/>
        </p:spPr>
        <p:txBody>
          <a:bodyPr wrap="none" lIns="73152" rIns="7315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203047"/>
                </a:solidFill>
                <a:latin typeface="Aptos"/>
              </a:rPr>
              <a:t>Nuevos módulos o funcionalidades grandes
→ cotización aparte.
Siguiente paso:
Validar alcance → ajustar wireframes → iniciar desarrollo.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