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66" r:id="rId2"/>
    <p:sldId id="257" r:id="rId3"/>
    <p:sldId id="259" r:id="rId4"/>
    <p:sldId id="260" r:id="rId5"/>
    <p:sldId id="267" r:id="rId6"/>
    <p:sldId id="264" r:id="rId7"/>
    <p:sldId id="265" r:id="rId8"/>
    <p:sldId id="261" r:id="rId9"/>
    <p:sldId id="263" r:id="rId1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a:xfrm>
            <a:off x="3962399" y="5870575"/>
            <a:ext cx="4893958" cy="377825"/>
          </a:xfrm>
        </p:spPr>
        <p:txBody>
          <a:bodyPr/>
          <a:lstStyle/>
          <a:p>
            <a:endParaRPr lang="es-CO"/>
          </a:p>
        </p:txBody>
      </p:sp>
      <p:sp>
        <p:nvSpPr>
          <p:cNvPr id="6" name="Slide Number Placeholder 5"/>
          <p:cNvSpPr>
            <a:spLocks noGrp="1"/>
          </p:cNvSpPr>
          <p:nvPr>
            <p:ph type="sldNum" sz="quarter" idx="12"/>
          </p:nvPr>
        </p:nvSpPr>
        <p:spPr>
          <a:xfrm>
            <a:off x="10608958" y="5870575"/>
            <a:ext cx="551167" cy="377825"/>
          </a:xfrm>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292451726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3421778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2082074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73220D8-4A0E-4998-8AA4-CC1BFAB71A3A}" type="datetimeFigureOut">
              <a:rPr lang="es-CO" smtClean="0"/>
              <a:t>1/10/2024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4024812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73220D8-4A0E-4998-8AA4-CC1BFAB71A3A}" type="datetimeFigureOut">
              <a:rPr lang="es-CO" smtClean="0"/>
              <a:t>1/10/2024</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1226980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73220D8-4A0E-4998-8AA4-CC1BFAB71A3A}" type="datetimeFigureOut">
              <a:rPr lang="es-CO" smtClean="0"/>
              <a:t>1/10/2024</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403441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373220D8-4A0E-4998-8AA4-CC1BFAB71A3A}" type="datetimeFigureOut">
              <a:rPr lang="es-CO" smtClean="0"/>
              <a:t>1/10/2024</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1405150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373220D8-4A0E-4998-8AA4-CC1BFAB71A3A}" type="datetimeFigureOut">
              <a:rPr lang="es-CO" smtClean="0"/>
              <a:t>1/10/2024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2686212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373220D8-4A0E-4998-8AA4-CC1BFAB71A3A}" type="datetimeFigureOut">
              <a:rPr lang="es-CO" smtClean="0"/>
              <a:t>1/10/2024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26382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373220D8-4A0E-4998-8AA4-CC1BFAB71A3A}" type="datetimeFigureOut">
              <a:rPr lang="es-CO" smtClean="0"/>
              <a:t>1/10/2024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1391169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1008784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19932088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3740380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s-ES"/>
              <a:t>Haga clic para modificar el estilo de texto del patrón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2106054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s-ES"/>
              <a:t>Haga clic para modificar el estilo de texto del patrón</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1968517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1707234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73220D8-4A0E-4998-8AA4-CC1BFAB71A3A}" type="datetimeFigureOut">
              <a:rPr lang="es-CO" smtClean="0"/>
              <a:t>1/10/2024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4DADB9-CA4A-40CC-A3AF-1C0EB952AA2F}" type="slidenum">
              <a:rPr lang="es-CO" smtClean="0"/>
              <a:t>‹Nº›</a:t>
            </a:fld>
            <a:endParaRPr lang="es-CO"/>
          </a:p>
        </p:txBody>
      </p:sp>
    </p:spTree>
    <p:extLst>
      <p:ext uri="{BB962C8B-B14F-4D97-AF65-F5344CB8AC3E}">
        <p14:creationId xmlns:p14="http://schemas.microsoft.com/office/powerpoint/2010/main" val="3957942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73220D8-4A0E-4998-8AA4-CC1BFAB71A3A}" type="datetimeFigureOut">
              <a:rPr lang="es-CO" smtClean="0"/>
              <a:t>1/10/2024</a:t>
            </a:fld>
            <a:endParaRPr lang="es-CO"/>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s-CO"/>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74DADB9-CA4A-40CC-A3AF-1C0EB952AA2F}" type="slidenum">
              <a:rPr lang="es-CO" smtClean="0"/>
              <a:t>‹Nº›</a:t>
            </a:fld>
            <a:endParaRPr lang="es-CO"/>
          </a:p>
        </p:txBody>
      </p:sp>
    </p:spTree>
    <p:extLst>
      <p:ext uri="{BB962C8B-B14F-4D97-AF65-F5344CB8AC3E}">
        <p14:creationId xmlns:p14="http://schemas.microsoft.com/office/powerpoint/2010/main" val="3785691000"/>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929897" y="218855"/>
            <a:ext cx="10523349" cy="6220691"/>
          </a:xfrm>
          <a:prstGeom prst="rect">
            <a:avLst/>
          </a:prstGeom>
        </p:spPr>
      </p:pic>
      <p:sp>
        <p:nvSpPr>
          <p:cNvPr id="3" name="Marcador de contenido 2"/>
          <p:cNvSpPr>
            <a:spLocks noGrp="1"/>
          </p:cNvSpPr>
          <p:nvPr>
            <p:ph idx="1"/>
          </p:nvPr>
        </p:nvSpPr>
        <p:spPr>
          <a:xfrm>
            <a:off x="216977" y="5348565"/>
            <a:ext cx="7082134" cy="1687665"/>
          </a:xfrm>
        </p:spPr>
        <p:txBody>
          <a:bodyPr>
            <a:normAutofit fontScale="92500" lnSpcReduction="20000"/>
          </a:bodyPr>
          <a:lstStyle/>
          <a:p>
            <a:pPr marL="0" indent="0" algn="ctr">
              <a:buNone/>
            </a:pPr>
            <a:r>
              <a:rPr lang="es-CO" sz="4000" b="1" i="1" dirty="0">
                <a:solidFill>
                  <a:schemeClr val="bg1"/>
                </a:solidFill>
                <a:latin typeface="+mj-lt"/>
              </a:rPr>
              <a:t>INYECCIÓN INTRAVITREA </a:t>
            </a:r>
          </a:p>
          <a:p>
            <a:pPr marL="0" indent="0" algn="ctr">
              <a:buNone/>
            </a:pPr>
            <a:r>
              <a:rPr lang="es-CO" sz="2800" b="1" i="1" dirty="0">
                <a:solidFill>
                  <a:schemeClr val="bg1"/>
                </a:solidFill>
                <a:latin typeface="+mj-lt"/>
              </a:rPr>
              <a:t>DOCENTE: CLAUDIA ROMERO  ESCOBAR</a:t>
            </a:r>
          </a:p>
          <a:p>
            <a:pPr marL="0" indent="0" algn="ctr">
              <a:buNone/>
            </a:pPr>
            <a:r>
              <a:rPr lang="es-CO" sz="2800" b="1" i="1" dirty="0">
                <a:solidFill>
                  <a:schemeClr val="bg1"/>
                </a:solidFill>
                <a:latin typeface="+mj-lt"/>
              </a:rPr>
              <a:t>CIRUGIA DE OFTALMOLOGIA</a:t>
            </a:r>
          </a:p>
          <a:p>
            <a:pPr algn="ctr"/>
            <a:endParaRPr lang="es-CO" sz="4000" b="1" i="1" dirty="0">
              <a:solidFill>
                <a:schemeClr val="bg1"/>
              </a:solidFill>
              <a:latin typeface="+mj-lt"/>
            </a:endParaRPr>
          </a:p>
        </p:txBody>
      </p:sp>
    </p:spTree>
    <p:extLst>
      <p:ext uri="{BB962C8B-B14F-4D97-AF65-F5344CB8AC3E}">
        <p14:creationId xmlns:p14="http://schemas.microsoft.com/office/powerpoint/2010/main" val="521186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184597"/>
            <a:ext cx="5664200" cy="602803"/>
          </a:xfrm>
          <a:solidFill>
            <a:srgbClr val="00B050"/>
          </a:solidFill>
        </p:spPr>
        <p:txBody>
          <a:bodyPr>
            <a:normAutofit fontScale="90000"/>
          </a:bodyPr>
          <a:lstStyle/>
          <a:p>
            <a:pPr algn="ctr"/>
            <a:r>
              <a:rPr lang="es-CO" dirty="0"/>
              <a:t>INYECCIÓN INTRAVITREA</a:t>
            </a:r>
          </a:p>
        </p:txBody>
      </p:sp>
      <p:sp>
        <p:nvSpPr>
          <p:cNvPr id="3" name="Marcador de contenido 2"/>
          <p:cNvSpPr>
            <a:spLocks noGrp="1"/>
          </p:cNvSpPr>
          <p:nvPr>
            <p:ph idx="1"/>
          </p:nvPr>
        </p:nvSpPr>
        <p:spPr>
          <a:xfrm>
            <a:off x="577313" y="948699"/>
            <a:ext cx="11188520" cy="1159072"/>
          </a:xfrm>
        </p:spPr>
        <p:txBody>
          <a:bodyPr>
            <a:noAutofit/>
          </a:bodyPr>
          <a:lstStyle/>
          <a:p>
            <a:pPr marL="0" indent="0" algn="ctr">
              <a:buNone/>
            </a:pPr>
            <a:endParaRPr lang="es-CO" sz="3600" b="1" i="1" dirty="0">
              <a:solidFill>
                <a:schemeClr val="bg1"/>
              </a:solidFill>
            </a:endParaRPr>
          </a:p>
          <a:p>
            <a:pPr marL="0" indent="0" algn="ctr">
              <a:buNone/>
            </a:pPr>
            <a:endParaRPr lang="es-CO" sz="3600" b="1" i="1" dirty="0">
              <a:solidFill>
                <a:schemeClr val="bg1"/>
              </a:solidFill>
            </a:endParaRPr>
          </a:p>
          <a:p>
            <a:pPr marL="0" indent="0" algn="just">
              <a:buNone/>
            </a:pPr>
            <a:r>
              <a:rPr lang="es-CO" sz="2400" i="1" u="sng" dirty="0">
                <a:solidFill>
                  <a:schemeClr val="bg1"/>
                </a:solidFill>
              </a:rPr>
              <a:t>Consiste en la aplicación de fármacos, directamente en el humor vítreo, para maximizar el efecto a nivel local y minimizar los efectos adversos</a:t>
            </a:r>
            <a:r>
              <a:rPr lang="es-CO" sz="2400" dirty="0">
                <a:solidFill>
                  <a:schemeClr val="bg1"/>
                </a:solidFill>
              </a:rPr>
              <a:t>. </a:t>
            </a:r>
          </a:p>
          <a:p>
            <a:pPr marL="0" indent="0" algn="just">
              <a:buNone/>
            </a:pPr>
            <a:r>
              <a:rPr lang="es-CO" sz="2400" b="1" dirty="0">
                <a:solidFill>
                  <a:schemeClr val="bg1"/>
                </a:solidFill>
              </a:rPr>
              <a:t>Las inyecciones Intravítrea: </a:t>
            </a:r>
            <a:r>
              <a:rPr lang="es-CO" sz="2400" dirty="0">
                <a:solidFill>
                  <a:schemeClr val="bg1"/>
                </a:solidFill>
              </a:rPr>
              <a:t>deben realizarse en condiciones de asepsia para evitar complicaciones infecciosas.  El lugar donde puede realizarse  el procedimiento puede ser quirófano, consulta o sala de curas.  </a:t>
            </a:r>
          </a:p>
        </p:txBody>
      </p:sp>
      <p:pic>
        <p:nvPicPr>
          <p:cNvPr id="4" name="Imagen 3"/>
          <p:cNvPicPr>
            <a:picLocks noChangeAspect="1"/>
          </p:cNvPicPr>
          <p:nvPr/>
        </p:nvPicPr>
        <p:blipFill>
          <a:blip r:embed="rId2"/>
          <a:stretch>
            <a:fillRect/>
          </a:stretch>
        </p:blipFill>
        <p:spPr>
          <a:xfrm>
            <a:off x="577313" y="3151200"/>
            <a:ext cx="10607959" cy="1609483"/>
          </a:xfrm>
          <a:prstGeom prst="rect">
            <a:avLst/>
          </a:prstGeom>
        </p:spPr>
      </p:pic>
      <p:pic>
        <p:nvPicPr>
          <p:cNvPr id="5" name="Imagen 4"/>
          <p:cNvPicPr>
            <a:picLocks noChangeAspect="1"/>
          </p:cNvPicPr>
          <p:nvPr/>
        </p:nvPicPr>
        <p:blipFill>
          <a:blip r:embed="rId3"/>
          <a:stretch>
            <a:fillRect/>
          </a:stretch>
        </p:blipFill>
        <p:spPr>
          <a:xfrm>
            <a:off x="7543371" y="4400792"/>
            <a:ext cx="3351938" cy="2294475"/>
          </a:xfrm>
          <a:prstGeom prst="rect">
            <a:avLst/>
          </a:prstGeom>
        </p:spPr>
      </p:pic>
    </p:spTree>
    <p:extLst>
      <p:ext uri="{BB962C8B-B14F-4D97-AF65-F5344CB8AC3E}">
        <p14:creationId xmlns:p14="http://schemas.microsoft.com/office/powerpoint/2010/main" val="2173990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28420" y="108488"/>
            <a:ext cx="10461356" cy="6137329"/>
          </a:xfrm>
        </p:spPr>
        <p:txBody>
          <a:bodyPr>
            <a:noAutofit/>
          </a:bodyPr>
          <a:lstStyle/>
          <a:p>
            <a:pPr marL="0" indent="0">
              <a:buNone/>
            </a:pPr>
            <a:r>
              <a:rPr lang="es-CO" sz="2800" b="1" u="sng" dirty="0">
                <a:solidFill>
                  <a:schemeClr val="bg1"/>
                </a:solidFill>
                <a:latin typeface="+mj-lt"/>
              </a:rPr>
              <a:t>LA INYECCIÓN INTRAVITRIA ES  UNA VÍA DE ADMINISTRACIÓN PARA DEL TRATAMIENTO DE:</a:t>
            </a:r>
          </a:p>
          <a:p>
            <a:pPr algn="just">
              <a:buFont typeface="Wingdings" panose="05000000000000000000" pitchFamily="2" charset="2"/>
              <a:buChar char="v"/>
            </a:pPr>
            <a:r>
              <a:rPr lang="es-CO" sz="2800" b="1" dirty="0">
                <a:solidFill>
                  <a:schemeClr val="bg1"/>
                </a:solidFill>
                <a:latin typeface="+mj-lt"/>
              </a:rPr>
              <a:t>E</a:t>
            </a:r>
            <a:r>
              <a:rPr lang="es-CO" sz="2800" dirty="0">
                <a:solidFill>
                  <a:schemeClr val="bg1"/>
                </a:solidFill>
              </a:rPr>
              <a:t>ndoftalmitis.</a:t>
            </a:r>
          </a:p>
          <a:p>
            <a:pPr algn="just">
              <a:buFont typeface="Wingdings" panose="05000000000000000000" pitchFamily="2" charset="2"/>
              <a:buChar char="v"/>
            </a:pPr>
            <a:r>
              <a:rPr lang="es-CO" sz="2800" dirty="0">
                <a:solidFill>
                  <a:schemeClr val="bg1"/>
                </a:solidFill>
              </a:rPr>
              <a:t>Retinitis vírica.</a:t>
            </a:r>
          </a:p>
          <a:p>
            <a:pPr algn="just">
              <a:buFont typeface="Wingdings" panose="05000000000000000000" pitchFamily="2" charset="2"/>
              <a:buChar char="v"/>
            </a:pPr>
            <a:r>
              <a:rPr lang="es-CO" sz="2800" dirty="0">
                <a:solidFill>
                  <a:schemeClr val="bg1"/>
                </a:solidFill>
              </a:rPr>
              <a:t>Degeneración macular asociada a la edad (DMAE).</a:t>
            </a:r>
          </a:p>
          <a:p>
            <a:pPr algn="just">
              <a:buFont typeface="Wingdings" panose="05000000000000000000" pitchFamily="2" charset="2"/>
              <a:buChar char="v"/>
            </a:pPr>
            <a:r>
              <a:rPr lang="es-CO" sz="2800" dirty="0">
                <a:solidFill>
                  <a:schemeClr val="bg1"/>
                </a:solidFill>
              </a:rPr>
              <a:t>Edema macular quístico (EMQ) y diabético (EMD).</a:t>
            </a:r>
          </a:p>
          <a:p>
            <a:pPr algn="just">
              <a:buFont typeface="Wingdings" panose="05000000000000000000" pitchFamily="2" charset="2"/>
              <a:buChar char="v"/>
            </a:pPr>
            <a:r>
              <a:rPr lang="es-CO" sz="2800" dirty="0">
                <a:solidFill>
                  <a:schemeClr val="bg1"/>
                </a:solidFill>
              </a:rPr>
              <a:t>Uveítis.</a:t>
            </a:r>
          </a:p>
          <a:p>
            <a:pPr algn="just">
              <a:buFont typeface="Wingdings" panose="05000000000000000000" pitchFamily="2" charset="2"/>
              <a:buChar char="v"/>
            </a:pPr>
            <a:r>
              <a:rPr lang="es-CO" sz="2800" dirty="0">
                <a:solidFill>
                  <a:schemeClr val="bg1"/>
                </a:solidFill>
              </a:rPr>
              <a:t>Oclusiones vasculares (oclusión de la rama venosa de la retina (ORVR) u oclusión de la vena central retiniana (OVCR).</a:t>
            </a:r>
          </a:p>
          <a:p>
            <a:pPr algn="just">
              <a:buFont typeface="Wingdings" panose="05000000000000000000" pitchFamily="2" charset="2"/>
              <a:buChar char="v"/>
            </a:pPr>
            <a:r>
              <a:rPr lang="es-CO" sz="2800" dirty="0">
                <a:solidFill>
                  <a:schemeClr val="bg1"/>
                </a:solidFill>
              </a:rPr>
              <a:t>Neovascularización coroidea (NVC) secundaria a miopía patológica (MP)</a:t>
            </a:r>
          </a:p>
          <a:p>
            <a:pPr algn="just">
              <a:buFont typeface="Wingdings" panose="05000000000000000000" pitchFamily="2" charset="2"/>
              <a:buChar char="v"/>
            </a:pPr>
            <a:r>
              <a:rPr lang="es-CO" sz="2800" dirty="0">
                <a:solidFill>
                  <a:schemeClr val="bg1"/>
                </a:solidFill>
              </a:rPr>
              <a:t>Desprendimiento de retina, entre otros.</a:t>
            </a:r>
          </a:p>
        </p:txBody>
      </p:sp>
    </p:spTree>
    <p:extLst>
      <p:ext uri="{BB962C8B-B14F-4D97-AF65-F5344CB8AC3E}">
        <p14:creationId xmlns:p14="http://schemas.microsoft.com/office/powerpoint/2010/main" val="3266316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218941" y="257339"/>
            <a:ext cx="11758411" cy="6379310"/>
          </a:xfrm>
          <a:prstGeom prst="rect">
            <a:avLst/>
          </a:prstGeom>
        </p:spPr>
        <p:txBody>
          <a:bodyPr wrap="square">
            <a:spAutoFit/>
          </a:bodyPr>
          <a:lstStyle/>
          <a:p>
            <a:pPr algn="just"/>
            <a:r>
              <a:rPr lang="es-CO" sz="2400" b="1" u="sng" dirty="0">
                <a:solidFill>
                  <a:schemeClr val="bg1"/>
                </a:solidFill>
                <a:ea typeface="Arial Unicode MS" panose="020B0604020202020204" pitchFamily="34" charset="-128"/>
                <a:cs typeface="Arial Unicode MS" panose="020B0604020202020204" pitchFamily="34" charset="-128"/>
              </a:rPr>
              <a:t>Secuencia del procedimiento</a:t>
            </a:r>
          </a:p>
          <a:p>
            <a:pPr algn="just"/>
            <a:endParaRPr lang="es-CO" sz="2400" u="sng" dirty="0">
              <a:solidFill>
                <a:schemeClr val="bg1"/>
              </a:solidFill>
              <a:ea typeface="Times New Roman" panose="02020603050405020304" pitchFamily="18" charset="0"/>
            </a:endParaRPr>
          </a:p>
          <a:p>
            <a:r>
              <a:rPr lang="es-CO" sz="2400" b="1" dirty="0">
                <a:solidFill>
                  <a:schemeClr val="bg1"/>
                </a:solidFill>
                <a:ea typeface="Times New Roman" panose="02020603050405020304" pitchFamily="18" charset="0"/>
              </a:rPr>
              <a:t>1. Dilatación pupilar para la visualización del fondo de ojo.</a:t>
            </a:r>
            <a:r>
              <a:rPr lang="es-CO" sz="2400" dirty="0">
                <a:solidFill>
                  <a:schemeClr val="bg1"/>
                </a:solidFill>
                <a:ea typeface="Times New Roman" panose="02020603050405020304" pitchFamily="18" charset="0"/>
              </a:rPr>
              <a:t> Es  aconsejable  para  control del «latido venoso» y de la «palidez» papilar, por si fuese necesaria alguna actuación posterior.</a:t>
            </a:r>
          </a:p>
          <a:p>
            <a:r>
              <a:rPr lang="es-CO" sz="2400" b="1" dirty="0">
                <a:solidFill>
                  <a:schemeClr val="bg1"/>
                </a:solidFill>
                <a:ea typeface="Times New Roman" panose="02020603050405020304" pitchFamily="18" charset="0"/>
              </a:rPr>
              <a:t>2. Anestesia tópica (estéril)</a:t>
            </a:r>
            <a:endParaRPr lang="es-CO" sz="2400" dirty="0">
              <a:solidFill>
                <a:schemeClr val="bg1"/>
              </a:solidFill>
              <a:ea typeface="Times New Roman" panose="02020603050405020304" pitchFamily="18" charset="0"/>
            </a:endParaRPr>
          </a:p>
          <a:p>
            <a:r>
              <a:rPr lang="es-CO" sz="2400" dirty="0">
                <a:solidFill>
                  <a:schemeClr val="bg1"/>
                </a:solidFill>
                <a:ea typeface="Times New Roman" panose="02020603050405020304" pitchFamily="18" charset="0"/>
              </a:rPr>
              <a:t>Lidocaína al 2% o colirio de anestésico (tetracaína) esteriles.</a:t>
            </a:r>
          </a:p>
          <a:p>
            <a:r>
              <a:rPr lang="es-CO" sz="2400" b="1" dirty="0">
                <a:solidFill>
                  <a:schemeClr val="bg1"/>
                </a:solidFill>
                <a:ea typeface="Times New Roman" panose="02020603050405020304" pitchFamily="18" charset="0"/>
              </a:rPr>
              <a:t>3. Limpieza ocular con Yodopovidona :</a:t>
            </a:r>
            <a:r>
              <a:rPr lang="es-CO" sz="2400" dirty="0">
                <a:solidFill>
                  <a:schemeClr val="bg1"/>
                </a:solidFill>
                <a:ea typeface="Times New Roman" panose="02020603050405020304" pitchFamily="18" charset="0"/>
              </a:rPr>
              <a:t> </a:t>
            </a:r>
          </a:p>
          <a:p>
            <a:r>
              <a:rPr lang="es-CO" sz="2400" dirty="0">
                <a:solidFill>
                  <a:schemeClr val="bg1"/>
                </a:solidFill>
                <a:ea typeface="Times New Roman" panose="02020603050405020304" pitchFamily="18" charset="0"/>
              </a:rPr>
              <a:t>Yodopovidona al 10% para la piel de los parpados, borde palpebral y pestañas.</a:t>
            </a:r>
          </a:p>
          <a:p>
            <a:r>
              <a:rPr lang="es-CO" sz="2400" dirty="0">
                <a:solidFill>
                  <a:schemeClr val="bg1"/>
                </a:solidFill>
                <a:ea typeface="Times New Roman" panose="02020603050405020304" pitchFamily="18" charset="0"/>
              </a:rPr>
              <a:t>Yodopovidona al 5% para  saco conjuntival, dejándola actuar por tres minutos.</a:t>
            </a:r>
          </a:p>
          <a:p>
            <a:r>
              <a:rPr lang="es-CO" sz="2400" b="1" dirty="0">
                <a:solidFill>
                  <a:schemeClr val="bg1"/>
                </a:solidFill>
                <a:ea typeface="Times New Roman" panose="02020603050405020304" pitchFamily="18" charset="0"/>
              </a:rPr>
              <a:t>4. Colocación del blefaróstato de Colibrí-Barraquer.</a:t>
            </a:r>
            <a:endParaRPr lang="es-CO" sz="2400" dirty="0">
              <a:solidFill>
                <a:schemeClr val="bg1"/>
              </a:solidFill>
              <a:ea typeface="Times New Roman" panose="02020603050405020304" pitchFamily="18" charset="0"/>
            </a:endParaRPr>
          </a:p>
          <a:p>
            <a:r>
              <a:rPr lang="es-CO" sz="2400" b="1" dirty="0">
                <a:solidFill>
                  <a:schemeClr val="bg1"/>
                </a:solidFill>
                <a:ea typeface="Times New Roman" panose="02020603050405020304" pitchFamily="18" charset="0"/>
              </a:rPr>
              <a:t>5. Medición con el compas, desde limbo hacia </a:t>
            </a:r>
            <a:r>
              <a:rPr lang="es-CO" sz="2400" b="1" i="1" dirty="0">
                <a:solidFill>
                  <a:schemeClr val="bg1"/>
                </a:solidFill>
                <a:ea typeface="Times New Roman" panose="02020603050405020304" pitchFamily="18" charset="0"/>
              </a:rPr>
              <a:t>pars plana.</a:t>
            </a:r>
            <a:endParaRPr lang="es-CO" sz="2400" dirty="0">
              <a:solidFill>
                <a:schemeClr val="bg1"/>
              </a:solidFill>
              <a:ea typeface="Times New Roman" panose="02020603050405020304" pitchFamily="18" charset="0"/>
            </a:endParaRPr>
          </a:p>
          <a:p>
            <a:pPr algn="just"/>
            <a:r>
              <a:rPr lang="es-CO" sz="2400" dirty="0">
                <a:solidFill>
                  <a:schemeClr val="bg1"/>
                </a:solidFill>
                <a:ea typeface="Arial Unicode MS" panose="020B0604020202020204" pitchFamily="34" charset="-128"/>
                <a:cs typeface="Arial Unicode MS" panose="020B0604020202020204" pitchFamily="34" charset="-128"/>
              </a:rPr>
              <a:t>Se mide con el compás u otro elemento de medición, la distancia desde el limbo y hacia </a:t>
            </a:r>
            <a:r>
              <a:rPr lang="es-CO" sz="2400" i="1" dirty="0">
                <a:solidFill>
                  <a:schemeClr val="bg1"/>
                </a:solidFill>
                <a:ea typeface="Arial Unicode MS" panose="020B0604020202020204" pitchFamily="34" charset="-128"/>
                <a:cs typeface="Arial Unicode MS" panose="020B0604020202020204" pitchFamily="34" charset="-128"/>
              </a:rPr>
              <a:t>pars-plana (</a:t>
            </a:r>
            <a:r>
              <a:rPr lang="es-CO" sz="2400" dirty="0"/>
              <a:t>La </a:t>
            </a:r>
            <a:r>
              <a:rPr lang="es-CO" sz="2400" b="1" dirty="0"/>
              <a:t>pars plana</a:t>
            </a:r>
            <a:r>
              <a:rPr lang="es-CO" sz="2400" dirty="0"/>
              <a:t> está situada en la parte más periférica de la retina)</a:t>
            </a:r>
            <a:r>
              <a:rPr lang="es-CO" sz="2400" dirty="0">
                <a:solidFill>
                  <a:schemeClr val="bg1"/>
                </a:solidFill>
                <a:ea typeface="Arial Unicode MS" panose="020B0604020202020204" pitchFamily="34" charset="-128"/>
                <a:cs typeface="Arial Unicode MS" panose="020B0604020202020204" pitchFamily="34" charset="-128"/>
              </a:rPr>
              <a:t>,  aproximadamente  3,5 mm en ojos afáquicos </a:t>
            </a:r>
            <a:r>
              <a:rPr lang="es-CO" sz="2400" dirty="0">
                <a:ea typeface="Arial Unicode MS" panose="020B0604020202020204" pitchFamily="34" charset="-128"/>
                <a:cs typeface="Arial Unicode MS" panose="020B0604020202020204" pitchFamily="34" charset="-128"/>
              </a:rPr>
              <a:t>(</a:t>
            </a:r>
            <a:r>
              <a:rPr lang="es-CO" sz="2400" b="1" dirty="0"/>
              <a:t>ausencia de cristalino en el ojo</a:t>
            </a:r>
            <a:r>
              <a:rPr lang="es-CO" sz="2400" dirty="0"/>
              <a:t>)</a:t>
            </a:r>
            <a:r>
              <a:rPr lang="es-CO" sz="2400" dirty="0">
                <a:solidFill>
                  <a:schemeClr val="bg1"/>
                </a:solidFill>
                <a:ea typeface="Arial Unicode MS" panose="020B0604020202020204" pitchFamily="34" charset="-128"/>
                <a:cs typeface="Arial Unicode MS" panose="020B0604020202020204" pitchFamily="34" charset="-128"/>
              </a:rPr>
              <a:t> o pseudofáquicos </a:t>
            </a:r>
            <a:r>
              <a:rPr lang="es-CO" sz="2400" dirty="0">
                <a:ea typeface="Arial Unicode MS" panose="020B0604020202020204" pitchFamily="34" charset="-128"/>
                <a:cs typeface="Arial Unicode MS" panose="020B0604020202020204" pitchFamily="34" charset="-128"/>
              </a:rPr>
              <a:t>(</a:t>
            </a:r>
            <a:r>
              <a:rPr lang="es-CO" sz="2400" b="1" dirty="0">
                <a:ea typeface="Arial Unicode MS" panose="020B0604020202020204" pitchFamily="34" charset="-128"/>
                <a:cs typeface="Arial Unicode MS" panose="020B0604020202020204" pitchFamily="34" charset="-128"/>
              </a:rPr>
              <a:t>se le ha e</a:t>
            </a:r>
            <a:r>
              <a:rPr lang="es-CO" sz="2400" b="1" dirty="0"/>
              <a:t>xtirpado el cristalino y  sustituido por un lente intraocular)</a:t>
            </a:r>
            <a:r>
              <a:rPr lang="es-CO" sz="2400" b="1" dirty="0">
                <a:ea typeface="Arial Unicode MS" panose="020B0604020202020204" pitchFamily="34" charset="-128"/>
                <a:cs typeface="Arial Unicode MS" panose="020B0604020202020204" pitchFamily="34" charset="-128"/>
              </a:rPr>
              <a:t> </a:t>
            </a:r>
            <a:r>
              <a:rPr lang="es-CO" sz="2400" dirty="0">
                <a:solidFill>
                  <a:schemeClr val="bg1"/>
                </a:solidFill>
                <a:ea typeface="Arial Unicode MS" panose="020B0604020202020204" pitchFamily="34" charset="-128"/>
                <a:cs typeface="Arial Unicode MS" panose="020B0604020202020204" pitchFamily="34" charset="-128"/>
              </a:rPr>
              <a:t>y de 4 mm en ojos fáquicos </a:t>
            </a:r>
            <a:r>
              <a:rPr lang="es-CO" sz="2400" dirty="0"/>
              <a:t>(</a:t>
            </a:r>
            <a:r>
              <a:rPr lang="es-CO" sz="2400" b="1" dirty="0"/>
              <a:t>Faquico</a:t>
            </a:r>
            <a:r>
              <a:rPr lang="es-CO" sz="2400" dirty="0"/>
              <a:t> </a:t>
            </a:r>
            <a:r>
              <a:rPr lang="es-CO" sz="2400" b="1" dirty="0"/>
              <a:t>significa</a:t>
            </a:r>
            <a:r>
              <a:rPr lang="es-CO" sz="2400" dirty="0"/>
              <a:t> que el </a:t>
            </a:r>
            <a:r>
              <a:rPr lang="es-CO" sz="2400" b="1" dirty="0"/>
              <a:t>ojo</a:t>
            </a:r>
            <a:r>
              <a:rPr lang="es-CO" sz="2400" dirty="0"/>
              <a:t> conserva el cristalino)</a:t>
            </a:r>
            <a:r>
              <a:rPr lang="es-CO" sz="2400" dirty="0">
                <a:ea typeface="Arial Unicode MS" panose="020B0604020202020204" pitchFamily="34" charset="-128"/>
                <a:cs typeface="Arial Unicode MS" panose="020B0604020202020204" pitchFamily="34" charset="-128"/>
              </a:rPr>
              <a:t> </a:t>
            </a:r>
            <a:r>
              <a:rPr lang="es-CO" sz="2400" dirty="0">
                <a:ea typeface="Times New Roman" panose="02020603050405020304" pitchFamily="18" charset="0"/>
              </a:rPr>
              <a:t>.</a:t>
            </a:r>
          </a:p>
          <a:p>
            <a:pPr algn="just">
              <a:lnSpc>
                <a:spcPct val="107000"/>
              </a:lnSpc>
              <a:spcAft>
                <a:spcPts val="800"/>
              </a:spcAft>
            </a:pPr>
            <a:r>
              <a:rPr lang="es-CO" sz="2400" dirty="0">
                <a:solidFill>
                  <a:srgbClr val="FFFFFF"/>
                </a:solidFill>
                <a:ea typeface="Calibri" panose="020F0502020204030204" pitchFamily="34" charset="0"/>
                <a:cs typeface="Times New Roman" panose="02020603050405020304" pitchFamily="18" charset="0"/>
              </a:rPr>
              <a:t> </a:t>
            </a:r>
            <a:endParaRPr lang="es-CO"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9753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2AA1D56-2C1C-45CD-892D-25571908F947}"/>
              </a:ext>
            </a:extLst>
          </p:cNvPr>
          <p:cNvPicPr>
            <a:picLocks noChangeAspect="1"/>
          </p:cNvPicPr>
          <p:nvPr/>
        </p:nvPicPr>
        <p:blipFill>
          <a:blip r:embed="rId2"/>
          <a:stretch>
            <a:fillRect/>
          </a:stretch>
        </p:blipFill>
        <p:spPr>
          <a:xfrm>
            <a:off x="923925" y="364718"/>
            <a:ext cx="10344150" cy="5724525"/>
          </a:xfrm>
          <a:prstGeom prst="rect">
            <a:avLst/>
          </a:prstGeom>
        </p:spPr>
      </p:pic>
    </p:spTree>
    <p:extLst>
      <p:ext uri="{BB962C8B-B14F-4D97-AF65-F5344CB8AC3E}">
        <p14:creationId xmlns:p14="http://schemas.microsoft.com/office/powerpoint/2010/main" val="4207707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p:cNvSpPr>
            <a:spLocks noGrp="1"/>
          </p:cNvSpPr>
          <p:nvPr>
            <p:ph idx="1"/>
          </p:nvPr>
        </p:nvSpPr>
        <p:spPr>
          <a:xfrm>
            <a:off x="108488" y="328009"/>
            <a:ext cx="11761248" cy="6288901"/>
          </a:xfrm>
          <a:prstGeom prst="rect">
            <a:avLst/>
          </a:prstGeom>
          <a:ln w="57150">
            <a:noFill/>
          </a:ln>
        </p:spPr>
        <p:txBody>
          <a:bodyPr wrap="square">
            <a:spAutoFit/>
          </a:bodyPr>
          <a:lstStyle/>
          <a:p>
            <a:pPr algn="just"/>
            <a:r>
              <a:rPr lang="es-CO" sz="2400" b="1" u="sng" dirty="0">
                <a:solidFill>
                  <a:schemeClr val="bg1"/>
                </a:solidFill>
                <a:ea typeface="Arial Unicode MS" panose="020B0604020202020204" pitchFamily="34" charset="-128"/>
                <a:cs typeface="Arial Unicode MS" panose="020B0604020202020204" pitchFamily="34" charset="-128"/>
              </a:rPr>
              <a:t>6. Indicar al paciente la posición del globo Ocular.</a:t>
            </a:r>
            <a:endParaRPr lang="es-CO" sz="2400" u="sng" dirty="0">
              <a:solidFill>
                <a:schemeClr val="bg1"/>
              </a:solidFill>
              <a:ea typeface="Arial Unicode MS" panose="020B0604020202020204" pitchFamily="34" charset="-128"/>
              <a:cs typeface="Arial Unicode MS" panose="020B0604020202020204" pitchFamily="34" charset="-128"/>
            </a:endParaRPr>
          </a:p>
          <a:p>
            <a:pPr marL="0" indent="0" algn="just">
              <a:buNone/>
            </a:pPr>
            <a:r>
              <a:rPr lang="es-CO" sz="2400" dirty="0">
                <a:solidFill>
                  <a:schemeClr val="bg1"/>
                </a:solidFill>
                <a:ea typeface="Arial Unicode MS" panose="020B0604020202020204" pitchFamily="34" charset="-128"/>
                <a:cs typeface="Arial Unicode MS" panose="020B0604020202020204" pitchFamily="34" charset="-128"/>
              </a:rPr>
              <a:t>Se indicara al paciente que mire hacia arriba y al lado contrario al punto de la inyección.</a:t>
            </a:r>
          </a:p>
          <a:p>
            <a:pPr marL="0" indent="0" algn="just">
              <a:buNone/>
            </a:pPr>
            <a:r>
              <a:rPr lang="es-CO" sz="2400" dirty="0">
                <a:solidFill>
                  <a:schemeClr val="bg1"/>
                </a:solidFill>
                <a:ea typeface="Arial Unicode MS" panose="020B0604020202020204" pitchFamily="34" charset="-128"/>
                <a:cs typeface="Arial Unicode MS" panose="020B0604020202020204" pitchFamily="34" charset="-128"/>
              </a:rPr>
              <a:t>La aplicación se realiza en el cuadrante temporal inferior. Algunos recomiendan la inyección en los cuadrantes inferiores como prevención de un posible fenómeno de Bells durante el procedimiento. Se debe evitar las 3 y 9 horas por la localización de las arterias ciliares.</a:t>
            </a:r>
          </a:p>
          <a:p>
            <a:pPr algn="just"/>
            <a:r>
              <a:rPr lang="es-CO" sz="2400" b="1" u="sng" dirty="0">
                <a:solidFill>
                  <a:schemeClr val="bg1"/>
                </a:solidFill>
                <a:ea typeface="Arial Unicode MS" panose="020B0604020202020204" pitchFamily="34" charset="-128"/>
                <a:cs typeface="Arial Unicode MS" panose="020B0604020202020204" pitchFamily="34" charset="-128"/>
              </a:rPr>
              <a:t>7. Movilización de la conjuntiva en el punto a inyectar con pinza o  Aplicador.  </a:t>
            </a:r>
          </a:p>
          <a:p>
            <a:pPr marL="0" indent="0" algn="just">
              <a:buNone/>
            </a:pPr>
            <a:r>
              <a:rPr lang="es-CO" sz="2400" dirty="0">
                <a:solidFill>
                  <a:schemeClr val="bg1"/>
                </a:solidFill>
                <a:ea typeface="Arial Unicode MS" panose="020B0604020202020204" pitchFamily="34" charset="-128"/>
                <a:cs typeface="Arial Unicode MS" panose="020B0604020202020204" pitchFamily="34" charset="-128"/>
              </a:rPr>
              <a:t>A efecto de impedir la coincidencia del orificio conjuntival y escleral,  se traslada unos milímetros la conjuntiva con un aplicador estéril o con una pinza, con el máximo cuidado para impedir una hemorragia subconjuntival. Más aún, en paciente anticoagulados. </a:t>
            </a:r>
          </a:p>
          <a:p>
            <a:pPr algn="just"/>
            <a:r>
              <a:rPr lang="es-CO" sz="2400" b="1" u="sng" dirty="0">
                <a:solidFill>
                  <a:schemeClr val="bg1"/>
                </a:solidFill>
                <a:ea typeface="Arial Unicode MS" panose="020B0604020202020204" pitchFamily="34" charset="-128"/>
                <a:cs typeface="Arial Unicode MS" panose="020B0604020202020204" pitchFamily="34" charset="-128"/>
              </a:rPr>
              <a:t>8. Inserción de la aguja.</a:t>
            </a:r>
            <a:endParaRPr lang="es-CO" sz="2400" u="sng" dirty="0">
              <a:solidFill>
                <a:schemeClr val="bg1"/>
              </a:solidFill>
              <a:ea typeface="Arial Unicode MS" panose="020B0604020202020204" pitchFamily="34" charset="-128"/>
              <a:cs typeface="Arial Unicode MS" panose="020B0604020202020204" pitchFamily="34" charset="-128"/>
            </a:endParaRPr>
          </a:p>
          <a:p>
            <a:pPr marL="0" indent="0" algn="just">
              <a:buNone/>
            </a:pPr>
            <a:r>
              <a:rPr lang="es-CO" sz="2400" dirty="0">
                <a:solidFill>
                  <a:schemeClr val="bg1"/>
                </a:solidFill>
                <a:ea typeface="Arial Unicode MS" panose="020B0604020202020204" pitchFamily="34" charset="-128"/>
                <a:cs typeface="Arial Unicode MS" panose="020B0604020202020204" pitchFamily="34" charset="-128"/>
              </a:rPr>
              <a:t>Perpendicularmente a través de la esclera con la punta hacia el centro del globo para evitar dañar el cristalino. Tener especial cuidado en no contaminar la aguja por contacto. </a:t>
            </a:r>
          </a:p>
          <a:p>
            <a:pPr algn="just">
              <a:buFont typeface="Arial" panose="020B0604020202020204" pitchFamily="34" charset="0"/>
              <a:buChar char="•"/>
            </a:pPr>
            <a:r>
              <a:rPr lang="es-CO" sz="2400" b="1" u="sng" dirty="0">
                <a:solidFill>
                  <a:schemeClr val="bg1"/>
                </a:solidFill>
                <a:ea typeface="Arial Unicode MS" panose="020B0604020202020204" pitchFamily="34" charset="-128"/>
                <a:cs typeface="Arial Unicode MS" panose="020B0604020202020204" pitchFamily="34" charset="-128"/>
              </a:rPr>
              <a:t>9. Inyección del producto.</a:t>
            </a:r>
          </a:p>
          <a:p>
            <a:pPr marL="0" indent="0" algn="just">
              <a:buNone/>
            </a:pPr>
            <a:r>
              <a:rPr lang="es-CO" sz="2400" dirty="0">
                <a:solidFill>
                  <a:schemeClr val="bg1"/>
                </a:solidFill>
                <a:ea typeface="Arial Unicode MS" panose="020B0604020202020204" pitchFamily="34" charset="-128"/>
                <a:cs typeface="Arial Unicode MS" panose="020B0604020202020204" pitchFamily="34" charset="-128"/>
              </a:rPr>
              <a:t>De 0,05 a  máximo 0,1 ml  del fármaco, suavemente para evitar efecto difusor.</a:t>
            </a:r>
          </a:p>
        </p:txBody>
      </p:sp>
    </p:spTree>
    <p:extLst>
      <p:ext uri="{BB962C8B-B14F-4D97-AF65-F5344CB8AC3E}">
        <p14:creationId xmlns:p14="http://schemas.microsoft.com/office/powerpoint/2010/main" val="3378973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01478" y="206062"/>
            <a:ext cx="11840705" cy="6465195"/>
          </a:xfrm>
          <a:ln w="57150">
            <a:noFill/>
          </a:ln>
        </p:spPr>
        <p:txBody>
          <a:bodyPr>
            <a:noAutofit/>
          </a:bodyPr>
          <a:lstStyle/>
          <a:p>
            <a:pPr marL="0" indent="0" algn="just">
              <a:buNone/>
            </a:pPr>
            <a:r>
              <a:rPr lang="es-CO" sz="2400" b="1" dirty="0">
                <a:solidFill>
                  <a:schemeClr val="bg1"/>
                </a:solidFill>
              </a:rPr>
              <a:t>9. Extracción suave de la aguja.</a:t>
            </a:r>
            <a:endParaRPr lang="es-CO" sz="2400" dirty="0">
              <a:solidFill>
                <a:schemeClr val="bg1"/>
              </a:solidFill>
            </a:endParaRPr>
          </a:p>
          <a:p>
            <a:pPr marL="0" indent="0" algn="just">
              <a:buNone/>
            </a:pPr>
            <a:r>
              <a:rPr lang="es-CO" sz="2400" dirty="0">
                <a:solidFill>
                  <a:schemeClr val="bg1"/>
                </a:solidFill>
              </a:rPr>
              <a:t>Se puede utilizar un  aplicador o el mismo instrumento de medición por el lado opuesto, para prevenir el reflujo del fármaco o vítreo acuoso, y el sangrado posterior.</a:t>
            </a:r>
          </a:p>
          <a:p>
            <a:pPr marL="0" indent="0" algn="just">
              <a:buNone/>
            </a:pPr>
            <a:r>
              <a:rPr lang="es-CO" sz="2400" b="1" dirty="0">
                <a:solidFill>
                  <a:schemeClr val="bg1"/>
                </a:solidFill>
              </a:rPr>
              <a:t>10. Administración  colirio  antibiótico de amplio espectro.</a:t>
            </a:r>
            <a:endParaRPr lang="es-CO" sz="2400" dirty="0">
              <a:solidFill>
                <a:schemeClr val="bg1"/>
              </a:solidFill>
            </a:endParaRPr>
          </a:p>
          <a:p>
            <a:pPr marL="0" indent="0" algn="just">
              <a:buNone/>
            </a:pPr>
            <a:r>
              <a:rPr lang="es-CO" sz="2400" dirty="0">
                <a:solidFill>
                  <a:schemeClr val="bg1"/>
                </a:solidFill>
              </a:rPr>
              <a:t>Tras la aplicación de la infiltración y durante unos días después del procedimiento. </a:t>
            </a:r>
          </a:p>
          <a:p>
            <a:pPr marL="0" indent="0" algn="just">
              <a:buNone/>
            </a:pPr>
            <a:r>
              <a:rPr lang="es-CO" sz="2400" dirty="0">
                <a:solidFill>
                  <a:schemeClr val="bg1"/>
                </a:solidFill>
              </a:rPr>
              <a:t>Por ejemplo Ofloxacina o ciprofloxacino, 2 gotas cada 8 horas entre 3 y 5 días posteriores a la inyección.</a:t>
            </a:r>
          </a:p>
          <a:p>
            <a:pPr marL="0" indent="0" algn="just">
              <a:buNone/>
            </a:pPr>
            <a:r>
              <a:rPr lang="es-CO" sz="2400" b="1" dirty="0">
                <a:solidFill>
                  <a:schemeClr val="bg1"/>
                </a:solidFill>
              </a:rPr>
              <a:t>11. Exploración de la percepción luminosa y visión de objetos.</a:t>
            </a:r>
            <a:endParaRPr lang="es-CO" sz="2400" dirty="0">
              <a:solidFill>
                <a:schemeClr val="bg1"/>
              </a:solidFill>
            </a:endParaRPr>
          </a:p>
          <a:p>
            <a:pPr marL="0" indent="0" algn="just">
              <a:buNone/>
            </a:pPr>
            <a:r>
              <a:rPr lang="es-CO" sz="2400" dirty="0">
                <a:solidFill>
                  <a:schemeClr val="bg1"/>
                </a:solidFill>
              </a:rPr>
              <a:t>En caso de ser necesario se  valorara la perfusión de la arteria centra de la retina, se puede hacer con oftalmoscopio indirecto o con lámpara de hendidura y lente de no contacto.</a:t>
            </a:r>
          </a:p>
          <a:p>
            <a:pPr marL="0" indent="0" algn="just">
              <a:buNone/>
            </a:pPr>
            <a:endParaRPr lang="es-CO" sz="2400" dirty="0">
              <a:solidFill>
                <a:schemeClr val="bg1"/>
              </a:solidFill>
            </a:endParaRPr>
          </a:p>
          <a:p>
            <a:pPr algn="just"/>
            <a:endParaRPr lang="es-CO" sz="2400" dirty="0">
              <a:solidFill>
                <a:schemeClr val="bg1"/>
              </a:solidFill>
            </a:endParaRPr>
          </a:p>
        </p:txBody>
      </p:sp>
    </p:spTree>
    <p:extLst>
      <p:ext uri="{BB962C8B-B14F-4D97-AF65-F5344CB8AC3E}">
        <p14:creationId xmlns:p14="http://schemas.microsoft.com/office/powerpoint/2010/main" val="3419491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l="38134" t="21019" r="39472" b="11155"/>
          <a:stretch/>
        </p:blipFill>
        <p:spPr>
          <a:xfrm>
            <a:off x="351693" y="126609"/>
            <a:ext cx="5472332" cy="6583680"/>
          </a:xfrm>
          <a:prstGeom prst="rect">
            <a:avLst/>
          </a:prstGeom>
        </p:spPr>
      </p:pic>
      <p:pic>
        <p:nvPicPr>
          <p:cNvPr id="2" name="Imagen 1"/>
          <p:cNvPicPr>
            <a:picLocks noChangeAspect="1"/>
          </p:cNvPicPr>
          <p:nvPr/>
        </p:nvPicPr>
        <p:blipFill rotWithShape="1">
          <a:blip r:embed="rId3"/>
          <a:srcRect l="4624"/>
          <a:stretch/>
        </p:blipFill>
        <p:spPr>
          <a:xfrm>
            <a:off x="6184900" y="126609"/>
            <a:ext cx="5786706" cy="6583680"/>
          </a:xfrm>
          <a:prstGeom prst="rect">
            <a:avLst/>
          </a:prstGeom>
        </p:spPr>
      </p:pic>
    </p:spTree>
    <p:extLst>
      <p:ext uri="{BB962C8B-B14F-4D97-AF65-F5344CB8AC3E}">
        <p14:creationId xmlns:p14="http://schemas.microsoft.com/office/powerpoint/2010/main" val="3267352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rotWithShape="1">
          <a:blip r:embed="rId2"/>
          <a:srcRect l="18169" t="34922" r="41162" b="19797"/>
          <a:stretch/>
        </p:blipFill>
        <p:spPr>
          <a:xfrm>
            <a:off x="1723729" y="464949"/>
            <a:ext cx="9032094" cy="5734373"/>
          </a:xfrm>
          <a:prstGeom prst="rect">
            <a:avLst/>
          </a:prstGeom>
        </p:spPr>
      </p:pic>
    </p:spTree>
    <p:extLst>
      <p:ext uri="{BB962C8B-B14F-4D97-AF65-F5344CB8AC3E}">
        <p14:creationId xmlns:p14="http://schemas.microsoft.com/office/powerpoint/2010/main" val="3463748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04C7E"/>
      </a:dk2>
      <a:lt2>
        <a:srgbClr val="EBEBEB"/>
      </a:lt2>
      <a:accent1>
        <a:srgbClr val="94CE67"/>
      </a:accent1>
      <a:accent2>
        <a:srgbClr val="49D1CD"/>
      </a:accent2>
      <a:accent3>
        <a:srgbClr val="61A5D6"/>
      </a:accent3>
      <a:accent4>
        <a:srgbClr val="9D8CD3"/>
      </a:accent4>
      <a:accent5>
        <a:srgbClr val="E45C8A"/>
      </a:accent5>
      <a:accent6>
        <a:srgbClr val="F98C61"/>
      </a:accent6>
      <a:hlink>
        <a:srgbClr val="AAF172"/>
      </a:hlink>
      <a:folHlink>
        <a:srgbClr val="E7F19A"/>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docProps/app.xml><?xml version="1.0" encoding="utf-8"?>
<Properties xmlns="http://schemas.openxmlformats.org/officeDocument/2006/extended-properties" xmlns:vt="http://schemas.openxmlformats.org/officeDocument/2006/docPropsVTypes">
  <Template>Celestial</Template>
  <TotalTime>297</TotalTime>
  <Words>685</Words>
  <Application>Microsoft Office PowerPoint</Application>
  <PresentationFormat>Panorámica</PresentationFormat>
  <Paragraphs>45</Paragraphs>
  <Slides>9</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9</vt:i4>
      </vt:variant>
    </vt:vector>
  </HeadingPairs>
  <TitlesOfParts>
    <vt:vector size="16" baseType="lpstr">
      <vt:lpstr>Arial</vt:lpstr>
      <vt:lpstr>Arial Unicode MS</vt:lpstr>
      <vt:lpstr>Calibri</vt:lpstr>
      <vt:lpstr>Calibri Light</vt:lpstr>
      <vt:lpstr>Times New Roman</vt:lpstr>
      <vt:lpstr>Wingdings</vt:lpstr>
      <vt:lpstr>Celestial</vt:lpstr>
      <vt:lpstr>Presentación de PowerPoint</vt:lpstr>
      <vt:lpstr>INYECCIÓN INTRAVITREA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INYECCIÓN INTRAVITREA</dc:title>
  <dc:creator>Usuario</dc:creator>
  <cp:lastModifiedBy>usuario</cp:lastModifiedBy>
  <cp:revision>23</cp:revision>
  <dcterms:created xsi:type="dcterms:W3CDTF">2018-02-13T19:26:20Z</dcterms:created>
  <dcterms:modified xsi:type="dcterms:W3CDTF">2024-10-01T20:48:27Z</dcterms:modified>
</cp:coreProperties>
</file>